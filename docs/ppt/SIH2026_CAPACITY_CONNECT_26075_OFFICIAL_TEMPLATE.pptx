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91440"/>
            <a:ext cx="71323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" y="128016"/>
            <a:ext cx="713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Team</a:t>
            </a:r>
          </a:p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91440"/>
            <a:ext cx="14173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25328" y="91440"/>
            <a:ext cx="141732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1904" y="219456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SMART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1904" y="36576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1904" y="512064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F27C1E"/>
                </a:solidFill>
                <a:latin typeface="Calibri"/>
              </a:rPr>
              <a:t>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6620256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6202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86868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700" b="1">
                <a:solidFill>
                  <a:srgbClr val="F27C1E"/>
                </a:solidFill>
                <a:latin typeface="Calibri"/>
              </a:rPr>
              <a:t>TITLE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207008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47088"/>
            <a:ext cx="22860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148840"/>
            <a:ext cx="7498079" cy="512064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148840"/>
            <a:ext cx="50800" cy="512064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221992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Problem Statement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18541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444C57"/>
                </a:solidFill>
                <a:latin typeface="Calibri"/>
              </a:rPr>
              <a:t>26075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734056"/>
            <a:ext cx="7498079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734056"/>
            <a:ext cx="50800" cy="512064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80720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Problem Statement Title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7706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444C57"/>
                </a:solidFill>
                <a:latin typeface="Calibri"/>
              </a:rPr>
              <a:t>CAPACITY CONNECT — A Digital Capacity Building and Learning Management Portal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319272"/>
            <a:ext cx="7498079" cy="512064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319272"/>
            <a:ext cx="50800" cy="512064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392424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Theme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35584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444C57"/>
                </a:solidFill>
                <a:latin typeface="Calibri"/>
              </a:rPr>
              <a:t>Smart Education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904488"/>
            <a:ext cx="7498079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904488"/>
            <a:ext cx="50800" cy="512064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97764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PS 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94106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444C57"/>
                </a:solidFill>
                <a:latin typeface="Calibri"/>
              </a:rPr>
              <a:t>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489704"/>
            <a:ext cx="7498079" cy="512064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489704"/>
            <a:ext cx="50800" cy="512064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562856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Team 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52628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444C57"/>
                </a:solidFill>
                <a:latin typeface="Calibri"/>
              </a:rPr>
              <a:t>Team 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74920"/>
            <a:ext cx="7498079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074920"/>
            <a:ext cx="50800" cy="512064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148072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Team Name (Registered on portal)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51114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39150" y="2129790"/>
            <a:ext cx="3101340" cy="20497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digital_twi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148840"/>
            <a:ext cx="3063240" cy="20116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58200" y="4206240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800" b="0">
                <a:solidFill>
                  <a:srgbClr val="444C57"/>
                </a:solidFill>
                <a:latin typeface="Calibri"/>
              </a:rPr>
              <a:t>Digital Twin concept (illustrative)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80560"/>
            <a:ext cx="3063240" cy="146304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460857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ORGANISATION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8280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Ministry of Earth Sciences (MoES)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34009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DEPARTMENT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5559552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India Meteorological Department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5870448"/>
            <a:ext cx="7498079" cy="475488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5989320"/>
            <a:ext cx="7223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F27C1E"/>
                </a:solidFill>
                <a:latin typeface="Calibri"/>
              </a:rPr>
              <a:t>One portal for training, assessment and competency — that keeps working when the network does 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91440"/>
            <a:ext cx="71323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" y="128016"/>
            <a:ext cx="713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Team</a:t>
            </a:r>
          </a:p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91440"/>
            <a:ext cx="14173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25328" y="91440"/>
            <a:ext cx="141732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1904" y="219456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SMART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1904" y="36576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1904" y="512064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F27C1E"/>
                </a:solidFill>
                <a:latin typeface="Calibri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2880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2700" b="1">
                <a:solidFill>
                  <a:srgbClr val="1A1A1A"/>
                </a:solidFill>
                <a:latin typeface="Calibri"/>
              </a:rPr>
              <a:t>IDEA TITLE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749808"/>
            <a:ext cx="4114800" cy="381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6620256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6202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CAPACITY CONNECT — one offline-first portal for learning, assessment, competency mapping and AI-assisted field troubleshooting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444752"/>
            <a:ext cx="69494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508760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❖ Proposed Solution (Describe your Idea/Solution/Prototype)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202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224485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1945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Single portal, three roles. </a:t>
            </a:r>
            <a:r>
              <a:rPr sz="1000" b="0">
                <a:solidFill>
                  <a:srgbClr val="444C57"/>
                </a:solidFill>
                <a:latin typeface="Calibri"/>
              </a:rPr>
              <a:t>Trainee, Trainer and Admin — secure signup/login with Admin approval and role management.</a:t>
            </a:r>
          </a:p>
        </p:txBody>
      </p:sp>
      <p:sp>
        <p:nvSpPr>
          <p:cNvPr id="21" name="Oval 20"/>
          <p:cNvSpPr/>
          <p:nvPr/>
        </p:nvSpPr>
        <p:spPr>
          <a:xfrm>
            <a:off x="566928" y="2703067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65277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Trainee: </a:t>
            </a:r>
            <a:r>
              <a:rPr sz="1000" b="0">
                <a:solidFill>
                  <a:srgbClr val="444C57"/>
                </a:solidFill>
                <a:latin typeface="Calibri"/>
              </a:rPr>
              <a:t>professional profile (qualifications, experience, skills, interests, certificates), course enrollment, learning resources, subject-wise MCQ assessments and course feedback.</a:t>
            </a:r>
          </a:p>
        </p:txBody>
      </p:sp>
      <p:sp>
        <p:nvSpPr>
          <p:cNvPr id="23" name="Oval 22"/>
          <p:cNvSpPr/>
          <p:nvPr/>
        </p:nvSpPr>
        <p:spPr>
          <a:xfrm>
            <a:off x="566928" y="316128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11099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Trainer: </a:t>
            </a:r>
            <a:r>
              <a:rPr sz="1000" b="0">
                <a:solidFill>
                  <a:srgbClr val="444C57"/>
                </a:solidFill>
                <a:latin typeface="Calibri"/>
              </a:rPr>
              <a:t>competency declaration, questionnaires with deadlines, participation and performance monitoring, and a Trainer Library of recorded lectures, presentations and study material.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3619497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56920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Admin: </a:t>
            </a:r>
            <a:r>
              <a:rPr sz="1000" b="0">
                <a:solidFill>
                  <a:srgbClr val="444C57"/>
                </a:solidFill>
                <a:latin typeface="Calibri"/>
              </a:rPr>
              <a:t>user approval, role management, dashboards for courses / enrollments / certifications / assessments / participation, plus homepage publishing of notifications, announcements and achievements.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407771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274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Competency mapping engine </a:t>
            </a:r>
            <a:r>
              <a:rPr sz="1000" b="0">
                <a:solidFill>
                  <a:srgbClr val="444C57"/>
                </a:solidFill>
                <a:latin typeface="Calibri"/>
              </a:rPr>
              <a:t>scores trainers against subject requirements to objectively identify the right trainer.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4535927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48563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Offline-first edge app: </a:t>
            </a:r>
            <a:r>
              <a:rPr sz="1000" b="0">
                <a:solidFill>
                  <a:srgbClr val="444C57"/>
                </a:solidFill>
                <a:latin typeface="Calibri"/>
              </a:rPr>
              <a:t>a real local database plus a local AI node on 127.0.0.1, so work continues at sea and at remote sites.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989570"/>
            <a:ext cx="69494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05357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" y="5515350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46505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Replaces scattered drives, mail and spreadsheets with one auditable source of truth for learning and competency.</a:t>
            </a:r>
          </a:p>
        </p:txBody>
      </p:sp>
      <p:sp>
        <p:nvSpPr>
          <p:cNvPr id="35" name="Oval 34"/>
          <p:cNvSpPr/>
          <p:nvPr/>
        </p:nvSpPr>
        <p:spPr>
          <a:xfrm>
            <a:off x="566928" y="5973565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5923273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Removes the connectivity barrier: every feature works offline and reconciles automatically on reconnect.</a:t>
            </a:r>
          </a:p>
        </p:txBody>
      </p:sp>
      <p:sp>
        <p:nvSpPr>
          <p:cNvPr id="37" name="Oval 36"/>
          <p:cNvSpPr/>
          <p:nvPr/>
        </p:nvSpPr>
        <p:spPr>
          <a:xfrm>
            <a:off x="566928" y="6289541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6239249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Turns tacit instrument know-how into retrievable, guided diagnostic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190" y="1425702"/>
            <a:ext cx="4152900" cy="18211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i_mockup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44752"/>
            <a:ext cx="4114800" cy="17830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635240" y="327355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800" b="0">
                <a:solidFill>
                  <a:srgbClr val="444C57"/>
                </a:solidFill>
                <a:latin typeface="Calibri"/>
              </a:rPr>
              <a:t>Concept UI mockup — offline dashboard and mobile learning app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5240" y="3474720"/>
            <a:ext cx="4114800" cy="274320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60273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E6FBA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91363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Offline is the default, not a fallback — </a:t>
            </a:r>
            <a:r>
              <a:rPr sz="900" b="0">
                <a:solidFill>
                  <a:srgbClr val="444C57"/>
                </a:solidFill>
                <a:latin typeface="Calibri"/>
              </a:rPr>
              <a:t>the local DB is an operating database, not a cache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29768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Local AI engine, no cloud LLM — </a:t>
            </a:r>
            <a:r>
              <a:rPr sz="900" b="0">
                <a:solidFill>
                  <a:srgbClr val="444C57"/>
                </a:solidFill>
                <a:latin typeface="Calibri"/>
              </a:rPr>
              <a:t>deterministic retrieval pipeline on 127.0.0.1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46817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Learning fused with operations — </a:t>
            </a:r>
            <a:r>
              <a:rPr sz="900" b="0">
                <a:solidFill>
                  <a:srgbClr val="444C57"/>
                </a:solidFill>
                <a:latin typeface="Calibri"/>
              </a:rPr>
              <a:t>a fault maps to the asset and to the training that covers 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06577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3D Digital Twin guidance — </a:t>
            </a:r>
            <a:r>
              <a:rPr sz="900" b="0">
                <a:solidFill>
                  <a:srgbClr val="444C57"/>
                </a:solidFill>
                <a:latin typeface="Calibri"/>
              </a:rPr>
              <a:t>SONAR-001 → Mesh_042 shown CRITICAL from a cached GLB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5449824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Objective competency mapping — </a:t>
            </a:r>
            <a:r>
              <a:rPr sz="900" b="0">
                <a:solidFill>
                  <a:srgbClr val="444C57"/>
                </a:solidFill>
                <a:latin typeface="Calibri"/>
              </a:rPr>
              <a:t>fit computed from skills, certificates and outcomes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583387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Auditable sync ledger — </a:t>
            </a:r>
            <a:r>
              <a:rPr sz="900" b="0">
                <a:solidFill>
                  <a:srgbClr val="444C57"/>
                </a:solidFill>
                <a:latin typeface="Calibri"/>
              </a:rPr>
              <a:t>every offline action is versioned and conflict-checked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91440"/>
            <a:ext cx="71323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" y="128016"/>
            <a:ext cx="713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Team</a:t>
            </a:r>
          </a:p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91440"/>
            <a:ext cx="14173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25328" y="91440"/>
            <a:ext cx="141732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1904" y="219456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SMART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1904" y="36576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1904" y="512064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F27C1E"/>
                </a:solidFill>
                <a:latin typeface="Calibri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2880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2700" b="1">
                <a:solidFill>
                  <a:srgbClr val="1A1A1A"/>
                </a:solidFill>
                <a:latin typeface="Calibri"/>
              </a:rPr>
              <a:t>TECHNICAL 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749808"/>
            <a:ext cx="4114800" cy="381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6620256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6202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Technologies to be used (programming languages, frameworks, hardware)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527048"/>
            <a:ext cx="2697480" cy="132588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1527048"/>
            <a:ext cx="269748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16276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110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Flutter 3 / Dart, Material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1396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Riverpod state - GoRouter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3682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Drift + SQLite (SQLCipher)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5968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Android - Windows - Linux - Web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0128" y="1527048"/>
            <a:ext cx="2697480" cy="1325880"/>
          </a:xfrm>
          <a:prstGeom prst="rect">
            <a:avLst/>
          </a:prstGeom>
          <a:solidFill>
            <a:srgbClr val="FDF0E2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10128" y="1527048"/>
            <a:ext cx="269748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47288" y="16276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F27C1E"/>
                </a:solidFill>
                <a:latin typeface="Calibri"/>
              </a:rPr>
              <a:t>LOCAL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19110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Python 3.11 - FastAPI on 127.0.0.1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1396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Normalise - detect - tokenize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23682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Keyword / phrase / RapidFuzz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7288" y="25968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TF-IDF retrieval, pluggable LLM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63056" y="1527048"/>
            <a:ext cx="2697480" cy="132588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3056" y="1527048"/>
            <a:ext cx="269748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216" y="16276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2E8B57"/>
                </a:solidFill>
                <a:latin typeface="Calibri"/>
              </a:rPr>
              <a:t>3D &amp; MEDIA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19110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GLTF / GLB cached locally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216" y="21396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Mesh mapping + fault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23682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Resumable chunked downloads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5968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Streaming video - PDF viewer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15984" y="1527048"/>
            <a:ext cx="2697480" cy="13258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15984" y="1527048"/>
            <a:ext cx="2697480" cy="50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53144" y="16276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BACKEND &amp;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3144" y="19110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FastAPI - SQLAlchemy - Pydantic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21396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PostgreSQL + Alembic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144" y="23682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JWT + refresh - Docker - CI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53144" y="259689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- </a:t>
            </a:r>
            <a:r>
              <a:rPr sz="950" b="0">
                <a:solidFill>
                  <a:srgbClr val="444C57"/>
                </a:solidFill>
                <a:latin typeface="Calibri"/>
              </a:rPr>
              <a:t>pytest - flutter test/analyze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306324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" y="312724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59190" y="3501390"/>
            <a:ext cx="3009900" cy="16383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3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20440"/>
            <a:ext cx="2971800" cy="1600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778240" y="5166360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800" b="0">
                <a:solidFill>
                  <a:srgbClr val="444C57"/>
                </a:solidFill>
                <a:latin typeface="Calibri"/>
              </a:rPr>
              <a:t>Offline-first edge + cloud, joined by a sync ledger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538728"/>
            <a:ext cx="8138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A. System architecture - the edge application works with zero connectivity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379476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776" y="379476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Flutter
Client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1705356" y="399592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837944" y="379476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74520" y="379476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Local AI
127.0.0.1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3086100" y="399592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218688" y="379476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55264" y="379476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Local DB
SQLCipher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466844" y="399592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99432" y="379476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36008" y="379476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Digital Twin
GLTF/GLB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5847588" y="399592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980176" y="379476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6752" y="379476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Sync
Ledger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7228332" y="399592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60920" y="379476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97496" y="379476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Cloud API
+ 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407408"/>
            <a:ext cx="8138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B. Local AI troubleshooting pipeline - returns structured JSON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466344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3776" y="466344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Input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1705356" y="486460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837944" y="466344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74520" y="466344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Normalise
+ tokenize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3086100" y="486460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218688" y="466344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55264" y="466344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Keyword /
fuzzy match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4466844" y="486460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599432" y="466344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636008" y="466344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Knowledge
retrieval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5847588" y="486460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980176" y="466344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16752" y="466344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Component
+ severity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228332" y="4864608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360920" y="4663440"/>
            <a:ext cx="1234440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97496" y="4663440"/>
            <a:ext cx="1161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3D mesh
mapping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5413247"/>
            <a:ext cx="11292840" cy="621792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5486399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Worked example: "Sonar transducer showing abnormal vibration and casing fracture" -&gt; </a:t>
            </a:r>
            <a:r>
              <a:rPr sz="1050" b="1">
                <a:solidFill>
                  <a:srgbClr val="1F3864"/>
                </a:solidFill>
                <a:latin typeface="Calibri"/>
              </a:rPr>
              <a:t>SONAR-001 - Mesh_042 - severity HIGH - confidence 0.94 -&gt; twin highlight, diagnostic procedure and record saved offline.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91440"/>
            <a:ext cx="71323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" y="128016"/>
            <a:ext cx="713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Team</a:t>
            </a:r>
          </a:p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91440"/>
            <a:ext cx="14173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25328" y="91440"/>
            <a:ext cx="141732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1904" y="219456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SMART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1904" y="36576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1904" y="512064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F27C1E"/>
                </a:solidFill>
                <a:latin typeface="Calibri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2880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2700" b="1">
                <a:solidFill>
                  <a:srgbClr val="1A1A1A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749808"/>
            <a:ext cx="4114800" cy="381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6620256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6202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59190" y="1507998"/>
            <a:ext cx="3009900" cy="14097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4_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527048"/>
            <a:ext cx="297180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78240" y="294436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800" b="0">
                <a:solidFill>
                  <a:srgbClr val="444C57"/>
                </a:solidFill>
                <a:latin typeface="Calibri"/>
              </a:rPr>
              <a:t>Target user: MoES / IMD field and shipboard personnel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527048"/>
            <a:ext cx="4023360" cy="64008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527048"/>
            <a:ext cx="508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1591056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Technically proven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181051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Flutter, FastAPI, PostgreSQL - one Dart codebase covers Android, Windows, Linux,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527048"/>
            <a:ext cx="4023360" cy="64008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63440" y="1527048"/>
            <a:ext cx="508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9744" y="1591056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No exotic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181051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Runs on existing field tablets and vessel workstations; backend is containerised.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240280"/>
            <a:ext cx="4023360" cy="64008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240280"/>
            <a:ext cx="508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2304288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Zero licensing cost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252374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Entirely open-source - scaling costs only storage and compute, no per-seat fees.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2240280"/>
            <a:ext cx="4023360" cy="64008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2240280"/>
            <a:ext cx="508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9744" y="2304288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Incremental rollout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52374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Portal usable from day one; AI and Digital Twin extend the same schema later.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099816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3163824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Potential challenges and risks  -&gt;  Strategies for overcoming these challenges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75304"/>
            <a:ext cx="11292840" cy="29260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621024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CHALLENGE /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36210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MITIGATION STRATEGY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867912"/>
            <a:ext cx="11292840" cy="4114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931920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Poor / no connectivity at sea and remote sites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931920"/>
            <a:ext cx="5897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Offline-first architecture: local operating DB + local AI node; the sync ledger drains on reconnect.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279392"/>
            <a:ext cx="11292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343400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Large 3D models on low-end field devices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4343400"/>
            <a:ext cx="5897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Decimated LOD meshes by default, full-resolution GLB optional; degrades to metadata-only view.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690872"/>
            <a:ext cx="11292840" cy="4114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754880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Offline credential caching weakens authentication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0" y="4754880"/>
            <a:ext cx="5897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Admin-approved devices only, Argon2id verifier, bounded grace window, audit + re-verification.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02352"/>
            <a:ext cx="11292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166360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Sync conflicts on shared records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0" y="5166360"/>
            <a:ext cx="5897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Per-entity strategies with a manual-resolution queue; diagnostics are never silently overwritten.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513832"/>
            <a:ext cx="11292840" cy="4114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Digital literacy and user adoption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5577840"/>
            <a:ext cx="5897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Role-tailored simple UI, localisation-ready strings, optional voice input, in-app guided scenario.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925312"/>
            <a:ext cx="11292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989320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Storage exhaustion on field devices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5989320"/>
            <a:ext cx="5897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Storage manager with per-category usage, resumable downloads, permissioned asset removal.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91440"/>
            <a:ext cx="71323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" y="128016"/>
            <a:ext cx="713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Team</a:t>
            </a:r>
          </a:p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91440"/>
            <a:ext cx="14173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25328" y="91440"/>
            <a:ext cx="141732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1904" y="219456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SMART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1904" y="36576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1904" y="512064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F27C1E"/>
                </a:solidFill>
                <a:latin typeface="Calibri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2880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2700" b="1">
                <a:solidFill>
                  <a:srgbClr val="1A1A1A"/>
                </a:solidFill>
                <a:latin typeface="Calibri"/>
              </a:rPr>
              <a:t>IMPACT AND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749808"/>
            <a:ext cx="4114800" cy="381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6620256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6202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6350" y="1507998"/>
            <a:ext cx="2872740" cy="16383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5_trai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527048"/>
            <a:ext cx="2834640" cy="1600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400" y="317296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800" b="0">
                <a:solidFill>
                  <a:srgbClr val="444C57"/>
                </a:solidFill>
                <a:latin typeface="Calibri"/>
              </a:rPr>
              <a:t>Trainers and trainees on one governed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527048"/>
            <a:ext cx="2606040" cy="173736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527048"/>
            <a:ext cx="260604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163677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TRAINEES / FIELD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1947672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Learn, test and certify with zero connectivity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237744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Guided AI diagnostics instead of waiting for shore 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280720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Portable, verifiable competency profile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1527048"/>
            <a:ext cx="2606040" cy="1737360"/>
          </a:xfrm>
          <a:prstGeom prst="rect">
            <a:avLst/>
          </a:prstGeom>
          <a:solidFill>
            <a:srgbClr val="FDF0E2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46120" y="1527048"/>
            <a:ext cx="260604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163677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TRAINERS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1947672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One versioned library for lectures and material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74136" y="237744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Questionnaires with deadlines and auto-scoring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74136" y="280720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Live participation and performance 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1527048"/>
            <a:ext cx="2606040" cy="1737360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40" y="1527048"/>
            <a:ext cx="260604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63056" y="163677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ADMINISTRATION / MoES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6" y="1947672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Dashboards: enrollment, certification, 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63056" y="237744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Objective trainer selection via competency mapping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3056" y="2807208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- </a:t>
            </a:r>
            <a:r>
              <a:rPr sz="900" b="0">
                <a:solidFill>
                  <a:srgbClr val="444C57"/>
                </a:solidFill>
                <a:latin typeface="Calibri"/>
              </a:rPr>
              <a:t>Complete audit trail for governance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465576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3529584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941064"/>
            <a:ext cx="3611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941064"/>
            <a:ext cx="50800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4032504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SOCIAL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4288536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Equitable access to training for remote and shipboard staff; skill recognition through verifiable certificates; localisation-ready for Indian languages; safer field work through guided procedures.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941064"/>
            <a:ext cx="3611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0" y="3941064"/>
            <a:ext cx="50800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16552" y="4032504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ECONOMIC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16552" y="4288536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Lower instrument downtime and fewer avoidable failures; reduced travel and classroom cost; open-source stack with no licensing fees; reusable across INCOIS, NCPOR and NIOT.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3941064"/>
            <a:ext cx="3611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3941064"/>
            <a:ext cx="50800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11312" y="4032504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ENVIRONMENTAL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11312" y="4288536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Fewer service trips and paper-free assessments; longer instrument life through timely preventive maintenance; better-maintained sensors mean higher-quality earth-science data.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312664"/>
            <a:ext cx="11292840" cy="530352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3949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100%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020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core features usable offline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55848" y="53949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40%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07408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target cut in fault-resolution time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63055" y="53949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14615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roles, one governed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70263" y="53949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21823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444C57"/>
                </a:solidFill>
                <a:latin typeface="Calibri"/>
              </a:rPr>
              <a:t>platforms, one codebase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91440"/>
            <a:ext cx="71323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" y="128016"/>
            <a:ext cx="713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Team</a:t>
            </a:r>
          </a:p>
          <a:p>
            <a:pPr algn="ctr">
              <a:spcAft>
                <a:spcPts val="0"/>
              </a:spcAft>
            </a:pPr>
            <a:r>
              <a:rPr sz="800">
                <a:solidFill>
                  <a:srgbClr val="444C57"/>
                </a:solidFill>
                <a:latin typeface="Calibri"/>
              </a:rPr>
              <a:t>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91440"/>
            <a:ext cx="14173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25328" y="91440"/>
            <a:ext cx="141732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1904" y="219456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SMART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1904" y="36576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1F3864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1904" y="512064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800" b="1">
                <a:solidFill>
                  <a:srgbClr val="F27C1E"/>
                </a:solidFill>
                <a:latin typeface="Calibri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2880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2700" b="1">
                <a:solidFill>
                  <a:srgbClr val="1A1A1A"/>
                </a:solidFill>
                <a:latin typeface="Calibri"/>
              </a:rPr>
              <a:t>RESEARCH AND REFERENCES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749808"/>
            <a:ext cx="4114800" cy="381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6620256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6202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6350" y="1507998"/>
            <a:ext cx="2872740" cy="18211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6_re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527048"/>
            <a:ext cx="2834640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400" y="33558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800" b="0">
                <a:solidFill>
                  <a:srgbClr val="444C57"/>
                </a:solidFill>
                <a:latin typeface="Calibri"/>
              </a:rPr>
              <a:t>Standards, manuals and prior art reviewed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527048"/>
            <a:ext cx="402336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527048"/>
            <a:ext cx="402336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1636776"/>
            <a:ext cx="3703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E6FBA"/>
                </a:solidFill>
                <a:latin typeface="Calibri"/>
              </a:rPr>
              <a:t>Problem &amp; organisational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194767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E6FBA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SIH 2026 Problem Statement 26075 - sih.gov.in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22402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E6FBA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Ministry of Earth Sciences - moes.gov.in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253288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E6FBA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India Meteorological Department - mausam.imd.gov.in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282549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E6FBA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MoES Annual Report - capacity building programmes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31181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E6FBA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National Education Policy 2020 - competency-based learning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527048"/>
            <a:ext cx="402336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1527048"/>
            <a:ext cx="402336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9744" y="1636776"/>
            <a:ext cx="3703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F27C1E"/>
                </a:solidFill>
                <a:latin typeface="Calibri"/>
              </a:rPr>
              <a:t>Standards &amp; frameworks referenced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194767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F27C1E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SCORM / xAPI - learning-record interoperability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9744" y="22402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F27C1E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IEEE 1484 LOM - learning-object metadata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9744" y="253288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F27C1E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NIST SP 800-63B - identity and authentication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9744" y="282549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F27C1E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NIST SP 800-38D - AES-256-GCM encryption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31181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F27C1E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OWASP ASVS + Mobile Top 10; ISO/IEC 27001 Annex 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611879"/>
            <a:ext cx="402336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611879"/>
            <a:ext cx="402336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3721607"/>
            <a:ext cx="3703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2E8B57"/>
                </a:solidFill>
                <a:latin typeface="Calibri"/>
              </a:rPr>
              <a:t>Technology documentation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4032503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2E8B57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Flutter &amp; Dart - docs.flutter.dev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4325111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2E8B57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Riverpod, GoRouter, Drift (drift.simonbinder.eu)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" y="4617719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2E8B57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FastAPI, SQLAlchemy, Alembic, Pydantic docs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4910327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2E8B57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SQLCipher - encrypted SQLite (zetetic.net)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5202935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2E8B57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Khronos glTF 2.0 specification; PostgreSQL 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3611879"/>
            <a:ext cx="402336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3611879"/>
            <a:ext cx="4023360" cy="50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09744" y="3721607"/>
            <a:ext cx="3703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Domain &amp; prior art studied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9744" y="4032503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Digital Twin for marine instrumentation (ISO 23247)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9744" y="4325111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Argo programme documentation - argo.ucsd.edu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744" y="4617719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Offline-first patterns; CRDT vs ledger-based sync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9744" y="4910327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Open-source LMS study (Moodle, Open edX)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09744" y="5202935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- </a:t>
            </a:r>
            <a:r>
              <a:rPr sz="850" b="0">
                <a:solidFill>
                  <a:srgbClr val="444C57"/>
                </a:solidFill>
                <a:latin typeface="Calibri"/>
              </a:rPr>
              <a:t>RapidFuzz / TF-IDF retrieval - confidence scoring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Note: </a:t>
            </a:r>
            <a:r>
              <a:rPr sz="900" b="0">
                <a:solidFill>
                  <a:srgbClr val="444C57"/>
                </a:solidFill>
                <a:latin typeface="Calibri"/>
              </a:rPr>
              <a:t>all cited standards and libraries are open or publicly available; the solution uses no proprietary or licence-restricted component.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