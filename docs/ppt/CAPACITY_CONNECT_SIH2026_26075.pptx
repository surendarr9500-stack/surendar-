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91695" cy="508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920239"/>
            <a:ext cx="2377440" cy="2377440"/>
          </a:xfrm>
          <a:prstGeom prst="ellipse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38560" y="2331720"/>
            <a:ext cx="1554480" cy="1554480"/>
          </a:xfrm>
          <a:prstGeom prst="ellipse">
            <a:avLst/>
          </a:prstGeom>
          <a:solidFill>
            <a:srgbClr val="0C2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2651760"/>
            <a:ext cx="914400" cy="914400"/>
          </a:xfrm>
          <a:prstGeom prst="ellipse">
            <a:avLst/>
          </a:prstGeom>
          <a:solidFill>
            <a:srgbClr val="0C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21C7B8"/>
                </a:solidFill>
                <a:latin typeface="Segoe UI"/>
              </a:rPr>
              <a:t>SMART INDIA HACKATHON 2026  ·  SOFTWARE  ·  SMART EDUCATION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9601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5200" b="1">
                <a:solidFill>
                  <a:srgbClr val="FFFFFF"/>
                </a:solidFill>
                <a:latin typeface="Segoe UI"/>
              </a:rPr>
              <a:t>CAPACITY 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0">
                <a:solidFill>
                  <a:srgbClr val="3EC5F0"/>
                </a:solidFill>
                <a:latin typeface="Segoe UI"/>
              </a:rPr>
              <a:t>Digital Capacity Building &amp; Learning Management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74980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B9C9DA"/>
                </a:solidFill>
                <a:latin typeface="Segoe UI"/>
              </a:rPr>
              <a:t>An offline-first, secure, role-based learning and competency platform for Ministry of Earth Sciences field personnel — training, assessments, trainer libraries, competency mapping and AI-assisted operational troubleshooting on one centralized portal.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1481328" cy="29260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FF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14215"/>
            <a:ext cx="14813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1">
                <a:solidFill>
                  <a:srgbClr val="FF9A3C"/>
                </a:solidFill>
                <a:latin typeface="Segoe UI"/>
              </a:rPr>
              <a:t>PS ID 26075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22576" y="3977639"/>
            <a:ext cx="3127248" cy="29260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4014215"/>
            <a:ext cx="3127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1">
                <a:solidFill>
                  <a:srgbClr val="3EC5F0"/>
                </a:solidFill>
                <a:latin typeface="Segoe UI"/>
              </a:rPr>
              <a:t>Ministry of Earth Sciences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2" y="3977639"/>
            <a:ext cx="3127248" cy="29260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9552" y="4014215"/>
            <a:ext cx="3127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1">
                <a:solidFill>
                  <a:srgbClr val="3EC5F0"/>
                </a:solidFill>
                <a:latin typeface="Segoe UI"/>
              </a:rPr>
              <a:t>India Meteorological Dept.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96528" y="3977639"/>
            <a:ext cx="1152144" cy="29260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21C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96528" y="4014215"/>
            <a:ext cx="11521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1">
                <a:solidFill>
                  <a:srgbClr val="21C7B8"/>
                </a:solidFill>
                <a:latin typeface="Segoe UI"/>
              </a:rPr>
              <a:t>Software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17720"/>
            <a:ext cx="1920240" cy="96012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754880"/>
            <a:ext cx="1920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21C7B8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937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User Roles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0360" y="4617720"/>
            <a:ext cx="1920240" cy="96012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4754880"/>
            <a:ext cx="1920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21C7B8"/>
                </a:solidFill>
                <a:latin typeface="Segoe UI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51937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Offline Capable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4617720"/>
            <a:ext cx="1920240" cy="96012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4754880"/>
            <a:ext cx="1920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21C7B8"/>
                </a:solidFill>
                <a:latin typeface="Segoe UI"/>
              </a:rPr>
              <a:t>AES-256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1937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GCM Encryption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4617720"/>
            <a:ext cx="1920240" cy="96012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4754880"/>
            <a:ext cx="1920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21C7B8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51937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Target Platforms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Team submission  ·  Flutter + FastAPI + PostgreSQL/SQLite  ·  Local AI Engine  ·  3D Digital Twin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The Problem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Why MoES / IMD capacity building needs a new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B9C9DA"/>
                </a:solidFill>
                <a:latin typeface="Segoe UI"/>
              </a:rPr>
              <a:t>Training, competency data and operational knowledge in earth-science organisations are fragmented across files, emails and disconnected portals — and unavailable exactly where field work happens.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50800" cy="1828800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5798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9A3C"/>
                </a:solidFill>
                <a:latin typeface="Segoe UI"/>
              </a:rPr>
              <a:t>Fragmented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62784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Courses, lectures and study material scattered across drives, mail and local machines.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No single catalog, no versioning, no audit of who learned what.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01168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011680"/>
            <a:ext cx="50800" cy="1828800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15798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9A3C"/>
                </a:solidFill>
                <a:latin typeface="Segoe UI"/>
              </a:rPr>
              <a:t>No competency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462784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Identifying a qualified trainer for a subject is manual and opinion-driven.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Skills, certificates and experience are not machine-readable.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01168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2011680"/>
            <a:ext cx="50800" cy="1828800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15798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9A3C"/>
                </a:solidFill>
                <a:latin typeface="Segoe UI"/>
              </a:rPr>
              <a:t>Connectivity blackspots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462784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Research vessels, buoy sites and remote observatories operate with little or no Internet.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Cloud-only portals become unusable at the point of need.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6908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069080"/>
            <a:ext cx="50800" cy="1828800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1538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3EC5F0"/>
                </a:solidFill>
                <a:latin typeface="Segoe UI"/>
              </a:rPr>
              <a:t>Manual assessment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520184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MCQ tests, deadlines and scorecards handled on paper or spreadsheets.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Slow feedback loops; participation statistics are guesswork.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406908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15968" y="4069080"/>
            <a:ext cx="50800" cy="1828800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136" y="421538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3EC5F0"/>
                </a:solidFill>
                <a:latin typeface="Segoe UI"/>
              </a:rPr>
              <a:t>Weak knowledge reuse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4520184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Troubleshooting expertise for sonar, telemetry and Argo assets lives in people's heads.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New engineers repeat the same diagnostic learning curve.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3296" y="406908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4069080"/>
            <a:ext cx="50800" cy="1828800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4464" y="421538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3EC5F0"/>
                </a:solidFill>
                <a:latin typeface="Segoe UI"/>
              </a:rPr>
              <a:t>No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4520184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Approvals, role changes and content publishing lack a workflow and audit trail.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Admins have no live dashboard of enrollment or certification.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Proposed Solution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One portal: learn, assess, certify, diagnose — online or offline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B9C9DA"/>
                </a:solidFill>
                <a:latin typeface="Segoe UI"/>
              </a:rPr>
              <a:t>CAPACITY CONNECT is a centralized, role-based capacity-building portal with an offline-first edge application. Everything a trainee, trainer or admin does is written to a real local database first, then synchronized to the cloud through an auditable transaction ledger.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3566160" cy="25146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50800" cy="25146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21C7B8"/>
                </a:solidFill>
                <a:latin typeface="Segoe UI"/>
              </a:rPr>
              <a:t>TRAINEE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12644"/>
            <a:ext cx="320040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Professional profile: qualifications, experience,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skills, interests, certificates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Course catalog, enrollment, resource access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Subject-wise MCQ assessments with scorecards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Course &amp; content feedback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AI troubleshooting + 3D Digital Twin assist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48840"/>
            <a:ext cx="3566160" cy="25146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48840"/>
            <a:ext cx="50800" cy="2514600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2951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3EC5F0"/>
                </a:solidFill>
                <a:latin typeface="Segoe UI"/>
              </a:rPr>
              <a:t>TRAINER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612644"/>
            <a:ext cx="320040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Trainer profile &amp; competency declaration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Build questionnaires with deadlines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Monitor participation and performance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Trainer Library: recorded lectures, slides,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study material with versions &amp; checksums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Per-course analytics and feedback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148840"/>
            <a:ext cx="3566160" cy="25146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2148840"/>
            <a:ext cx="50800" cy="2514600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2951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9A3C"/>
                </a:solidFill>
                <a:latin typeface="Segoe UI"/>
              </a:rPr>
              <a:t>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612644"/>
            <a:ext cx="320040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User approval and role management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Dashboards: courses, enrollments, certifications,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assessments, participation statistics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Publish notices, announcements, achievements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Competency mapping → best-fit trainer per subject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Assets, knowledge base, audit and sync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9204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WHAT MAKES IT DIFFERENT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3949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▸ 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Offline-first by design — local SQLite/Drift is the operating DB, not a cache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3949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▸ 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Local AI engine on 127.0.0.1 — deterministic retrieval works with zero cloud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4243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▸ 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3D Digital Twin maps a described fault to a real mesh (SONAR-001 → Mesh_042)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74243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▸ 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Competency mapping engine scores trainers against subject requirements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System Architecture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Modular edge application + independently deployable cloud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21C7B8"/>
                </a:solidFill>
                <a:latin typeface="Segoe UI"/>
              </a:rPr>
              <a:t>EDGE APPLICATION  (works with no Internet)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20240"/>
            <a:ext cx="4892040" cy="60350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7510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Flutter 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2199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Material 3 · Riverpod · GoRouter · responsive mobile/desktop shells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15184"/>
            <a:ext cx="4892040" cy="60350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Local AI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169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Python FastAPI node on 127.0.0.1 · NLP pipeline · structured 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10128"/>
            <a:ext cx="4892040" cy="60350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6499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Local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Drift/SQLite (SQLCipher) · users, courses, attempts, diagnostics, queue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005072"/>
            <a:ext cx="4892040" cy="60350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599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Digital Twin Runtime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0682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Locally cached GLTF/GLB · selection, highlight, fault state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700016"/>
            <a:ext cx="4892040" cy="60350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7548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Secure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0017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Platform keystore · AES-256-GCM data protection · session tokens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1371600"/>
            <a:ext cx="5330952" cy="4114800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15087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9A3C"/>
                </a:solidFill>
                <a:latin typeface="Segoe UI"/>
              </a:rPr>
              <a:t>CLOUD PLATFORM  (optional for core workflow)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1920240"/>
            <a:ext cx="4892040" cy="60350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197510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REST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22199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FastAPI · versioned /api/v1 · Pydantic validation · consistent errors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2615184"/>
            <a:ext cx="4892040" cy="60350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26700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PostgreSQL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29169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SQLAlchemy models · Alembic migrations · full relational schema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3310128"/>
            <a:ext cx="4892040" cy="60350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336499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Background Workers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6118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Media transcode, document indexing, report generation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37960" y="4005072"/>
            <a:ext cx="4892040" cy="60350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0599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Sync &amp; Conflict Service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430682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Ledger ingestion · version compare · conflict resolution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7960" y="4700016"/>
            <a:ext cx="4892040" cy="60350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47548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Admin Portal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0017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Approvals, dashboards, publishing, audit log, device registry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06240" y="5669280"/>
            <a:ext cx="3749039" cy="566928"/>
          </a:xfrm>
          <a:prstGeom prst="round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58064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061B36"/>
                </a:solidFill>
                <a:latin typeface="Segoe UI"/>
              </a:rPr>
              <a:t>⇅  ENCRYPTED SYNC LEDGER  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Technology Stack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Chosen for cross-platform reach, offline strength and low deployment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2697480" cy="508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727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21C7B8"/>
                </a:solidFill>
                <a:latin typeface="Segoe UI"/>
              </a:rPr>
              <a:t>CLIENT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Flutter 3 / 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048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Material 3 design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98064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Riverpod state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9125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GoRouter navigation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8444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Drift + SQLite (SQLCipher)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776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flutter_secure_storage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7083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Dio HTTP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64024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connectivity_plus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92424" y="137160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92424" y="1371600"/>
            <a:ext cx="2697480" cy="50800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75304" y="15727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3EC5F0"/>
                </a:solidFill>
                <a:latin typeface="Segoe UI"/>
              </a:rPr>
              <a:t>3D &amp; MEDIA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5304" y="2011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3EC5F0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GLTF / GLB assets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304" y="24048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3EC5F0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flutter_scene / model viewer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5304" y="2798064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3EC5F0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Local asset cache + checksum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304" y="319125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3EC5F0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Chunked, resumable downloads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75304" y="358444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3EC5F0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Streaming video playback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39776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3EC5F0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PDF / document viewer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437083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3EC5F0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speech_to_text (optional voice)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7" y="137160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6207" y="1371600"/>
            <a:ext cx="2697480" cy="50800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7" y="15727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9A3C"/>
                </a:solidFill>
                <a:latin typeface="Segoe UI"/>
              </a:rPr>
              <a:t>AI ENGINE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7" y="2011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9A3C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Python 3.11 · 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7" y="24048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9A3C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Normalization + language detect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7" y="2798064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9A3C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Tokenization &amp; stop-wording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7" y="319125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9A3C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Keyword / phrase / fuzzy match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7" y="358444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9A3C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RapidFuzz scoring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7" y="39776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9A3C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TF-IDF knowledge retrieval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7" y="437083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9A3C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Pluggable local LLM slot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79992" y="137160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79992" y="1371600"/>
            <a:ext cx="2697480" cy="50800"/>
          </a:xfrm>
          <a:prstGeom prst="rect">
            <a:avLst/>
          </a:prstGeom>
          <a:solidFill>
            <a:srgbClr val="4CD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2872" y="15727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4CD97B"/>
                </a:solidFill>
                <a:latin typeface="Segoe UI"/>
              </a:rPr>
              <a:t>BACKEND &amp; OPS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2872" y="2011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CD97B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FastAPI · SQLAlchemy · Pydantic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62872" y="240487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CD97B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PostgreSQL + Alembic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62872" y="2798064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CD97B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Celery / RQ workers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2872" y="319125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CD97B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JWT access + refresh tokens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62872" y="358444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CD97B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Docker + docker-compose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62872" y="39776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CD97B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GitHub Actions CI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2872" y="437083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4CD97B"/>
                </a:solidFill>
                <a:latin typeface="Segoe UI"/>
              </a:rPr>
              <a:t>·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pytest · flutter test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5779008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1C7B8"/>
                </a:solidFill>
                <a:latin typeface="Segoe UI"/>
              </a:rPr>
              <a:t>Targets: 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Android (field tablets/phones) · Windows (vessel workstations) · Linux (shore servers/kiosks) · Web (admin &amp; trainer portal). One Dart codebase, adaptive layouts, single local schema.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Local AI Troubleshooting Engine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Runs on 127.0.0.1 — no cloud LLM required for the core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443445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399032"/>
            <a:ext cx="13337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Normalize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010373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56677" y="1325880"/>
            <a:ext cx="1443445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11541" y="1399032"/>
            <a:ext cx="13337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Language
Detect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618411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64715" y="1325880"/>
            <a:ext cx="1443445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9579" y="1399032"/>
            <a:ext cx="13337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Tokenize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226449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2753" y="1325880"/>
            <a:ext cx="1443445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7617" y="1399032"/>
            <a:ext cx="13337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Keyword
Match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4486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980790" y="1325880"/>
            <a:ext cx="1443445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35654" y="1399032"/>
            <a:ext cx="13337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Phrase
Match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42524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88828" y="1325880"/>
            <a:ext cx="1443445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3692" y="1399032"/>
            <a:ext cx="13337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Fuzzy
Match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050562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96866" y="1325880"/>
            <a:ext cx="1443445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1730" y="1399032"/>
            <a:ext cx="133371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Knowledge
Retrieval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2011680"/>
            <a:ext cx="1422806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49424" y="2084832"/>
            <a:ext cx="131307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Component
ID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635654" y="22219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81958" y="2011680"/>
            <a:ext cx="1422806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36822" y="2084832"/>
            <a:ext cx="131307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Fault
Classify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223052" y="22219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369356" y="2011680"/>
            <a:ext cx="1422806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24220" y="2084832"/>
            <a:ext cx="131307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Severity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6810451" y="22219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956755" y="2011680"/>
            <a:ext cx="1422806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11619" y="2084832"/>
            <a:ext cx="131307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Recommended
Action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8397849" y="22219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544153" y="2011680"/>
            <a:ext cx="1422806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9017" y="2084832"/>
            <a:ext cx="131307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3D Mesh
Mapping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288036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2880360"/>
            <a:ext cx="50800" cy="1417320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30266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9A3C"/>
                </a:solidFill>
                <a:latin typeface="Segoe UI"/>
              </a:rPr>
              <a:t>SAMPLE INPUT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3331464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"Sonar transducer is showing abnormal vibration and casing fracture."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Sonar → Sonar Transducer Array → SONAR-001 → Mesh_042 → HIGH severity → diagnostic procedure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09360" y="2880360"/>
            <a:ext cx="5330952" cy="3246120"/>
          </a:xfrm>
          <a:prstGeom prst="roundRect">
            <a:avLst>
              <a:gd name="adj" fmla="val 8000"/>
            </a:avLst>
          </a:prstGeom>
          <a:solidFill>
            <a:srgbClr val="08213E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30175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STRUCTURED JSON RESPONSE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3337560"/>
            <a:ext cx="4937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B9C9DA"/>
                </a:solidFill>
                <a:latin typeface="Consolas"/>
              </a:rPr>
              <a:t>{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"request_id": "b7c1…",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"component_id": "SONAR-001",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"component_name": "Sonar Transducer Array",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"mesh_id": "Mesh_042",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"fault": "Casing fracture",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"severity": "HIGH",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"confidence": 0.94,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"evidence": ["casing fracture", "vibration"],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"recommended_actions": ["Isolate array", …],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"warnings": ["Do not power-cycle underwater"],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3EC5F0"/>
                </a:solidFill>
                <a:latin typeface="Consolas"/>
              </a:rPr>
              <a:t>  "timestamp": "2026-09-01T10:22:04Z"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B9C9DA"/>
                </a:solidFill>
                <a:latin typeface="Consolas"/>
              </a:rPr>
              <a:t>}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48056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4480560"/>
            <a:ext cx="50800" cy="1645920"/>
          </a:xfrm>
          <a:prstGeom prst="rect">
            <a:avLst/>
          </a:prstGeom>
          <a:solidFill>
            <a:srgbClr val="4CD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" y="46268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4CD97B"/>
                </a:solidFill>
                <a:latin typeface="Segoe UI"/>
              </a:rPr>
              <a:t>HOW CONFIDENCE IS COMPUTED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" y="4931664"/>
            <a:ext cx="4983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Weighted score, not a magic number: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0.45 × exact keyword coverage  +  0.25 × phrase match  +  0.20 × fuzzy token ratio  +  0.10 × knowledge-chunk cosine similarity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Score &lt; 0.55 → engine returns candidates and asks the engineer to disambiguate.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Digital Twin &amp; Hardware Registry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Fault text → real component → real mesh → visual fault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711452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399032"/>
            <a:ext cx="16017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Component
Registry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78380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24684" y="1325880"/>
            <a:ext cx="1711452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79548" y="1399032"/>
            <a:ext cx="16017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Mesh
Mapping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54424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00728" y="1325880"/>
            <a:ext cx="1711452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5592" y="1399032"/>
            <a:ext cx="16017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3D Scene
(GLTF/GLB)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30468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6772" y="1325880"/>
            <a:ext cx="1711452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1636" y="1399032"/>
            <a:ext cx="16017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Component
Selection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906512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52816" y="1325880"/>
            <a:ext cx="1711452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7680" y="1399032"/>
            <a:ext cx="16017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State Layer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782556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928860" y="1325880"/>
            <a:ext cx="1711452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83724" y="1399032"/>
            <a:ext cx="16017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Visual
Highlight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148840"/>
            <a:ext cx="8869680" cy="384048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2402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21C7B8"/>
                </a:solidFill>
                <a:latin typeface="Segoe UI"/>
              </a:rPr>
              <a:t>Component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12848" y="2240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21C7B8"/>
                </a:solidFill>
                <a:latin typeface="Segoe UI"/>
              </a:rPr>
              <a:t>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22402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21C7B8"/>
                </a:solidFill>
                <a:latin typeface="Segoe UI"/>
              </a:rPr>
              <a:t>Mesh 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22402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21C7B8"/>
                </a:solidFill>
                <a:latin typeface="Segoe UI"/>
              </a:rPr>
              <a:t>Category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2240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21C7B8"/>
                </a:solidFill>
                <a:latin typeface="Segoe UI"/>
              </a:rPr>
              <a:t>Demo State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532888"/>
            <a:ext cx="8869680" cy="384048"/>
          </a:xfrm>
          <a:prstGeom prst="rect">
            <a:avLst/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26334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SONAR-001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12848" y="263347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Sonar Transducer Array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30368" y="26334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Mesh_042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26334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Acoustics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26334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FF6B6B"/>
                </a:solidFill>
                <a:latin typeface="Segoe UI"/>
              </a:rPr>
              <a:t>CRITICAL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2935224"/>
            <a:ext cx="8869680" cy="384048"/>
          </a:xfrm>
          <a:prstGeom prst="rect">
            <a:avLst/>
          </a:prstGeom>
          <a:solidFill>
            <a:srgbClr val="0B2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303580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TELEM-001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12848" y="303580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Telemetry Transceiver Mast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0368" y="30358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Mesh_109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0528" y="303580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Communications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5008" y="30358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FF9A3C"/>
                </a:solidFill>
                <a:latin typeface="Segoe UI"/>
              </a:rPr>
              <a:t>WARNING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3337560"/>
            <a:ext cx="8869680" cy="384048"/>
          </a:xfrm>
          <a:prstGeom prst="rect">
            <a:avLst/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34381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ARGO-001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12848" y="343814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Autonomous Argo Profiling Float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30368" y="34381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Mesh_210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343814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Profiling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343814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4CD97B"/>
                </a:solidFill>
                <a:latin typeface="Segoe UI"/>
              </a:rPr>
              <a:t>NORMAL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3739896"/>
            <a:ext cx="8869680" cy="384048"/>
          </a:xfrm>
          <a:prstGeom prst="rect">
            <a:avLst/>
          </a:prstGeom>
          <a:solidFill>
            <a:srgbClr val="0B2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38404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ECHO-001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12848" y="38404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Multi-beam Echo Sounder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0368" y="3840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Mesh_315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0528" y="38404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Bathymetry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65008" y="3840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FF9A3C"/>
                </a:solidFill>
                <a:latin typeface="Segoe UI"/>
              </a:rPr>
              <a:t>DEGRADED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142232"/>
            <a:ext cx="8869680" cy="384048"/>
          </a:xfrm>
          <a:prstGeom prst="rect">
            <a:avLst/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24281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WINCH-001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12848" y="424281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Hydraulic Deep-Sea Winch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30368" y="424281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Mesh_410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0528" y="424281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Deck Machinery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65008" y="424281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1">
                <a:solidFill>
                  <a:srgbClr val="3EC5F0"/>
                </a:solidFill>
                <a:latin typeface="Segoe UI"/>
              </a:rPr>
              <a:t>MAINTENANCE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01200" y="2148840"/>
            <a:ext cx="2039112" cy="239572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01200" y="2148840"/>
            <a:ext cx="50800" cy="2395728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02368" y="2295144"/>
            <a:ext cx="1673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3EC5F0"/>
                </a:solidFill>
                <a:latin typeface="Segoe UI"/>
              </a:rPr>
              <a:t>STATES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02368" y="2599944"/>
            <a:ext cx="1673352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NORMAL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WARNING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DEGRADED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CRITICAL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MAINTENANCE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OFFLINE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UNKNOWN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8640" y="4617720"/>
            <a:ext cx="5394960" cy="713232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3232" y="470916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21C7B8"/>
                </a:solidFill>
                <a:latin typeface="Segoe UI"/>
              </a:rPr>
              <a:t>Interaction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3232" y="49834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rotate · zoom · pan · select · isolate · reset camera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35624" y="4617720"/>
            <a:ext cx="5394960" cy="713232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00216" y="470916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21C7B8"/>
                </a:solidFill>
                <a:latin typeface="Segoe UI"/>
              </a:rPr>
              <a:t>Offline assets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0216" y="49834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GLTF/GLB cached locally with checksum + version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5440680"/>
            <a:ext cx="5394960" cy="713232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" y="553212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21C7B8"/>
                </a:solidFill>
                <a:latin typeface="Segoe UI"/>
              </a:rPr>
              <a:t>Decoupled state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" y="580644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AI parser never touches the renderer — a state layer sits between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135624" y="5440680"/>
            <a:ext cx="5394960" cy="713232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00216" y="553212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21C7B8"/>
                </a:solidFill>
                <a:latin typeface="Segoe UI"/>
              </a:rPr>
              <a:t>Graceful fallback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580644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model missing → full component metadata still accessible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Offline-First Operation &amp; Synchronization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The local database is an operating database, not a cache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242441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399032"/>
            <a:ext cx="113271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Local
Transaction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09369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55673" y="1325880"/>
            <a:ext cx="1242441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0537" y="1399032"/>
            <a:ext cx="113271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Sync Queue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16402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62706" y="1325880"/>
            <a:ext cx="1242441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7570" y="1399032"/>
            <a:ext cx="113271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Connectivity
Restored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23435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69739" y="1325880"/>
            <a:ext cx="1242441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4603" y="1399032"/>
            <a:ext cx="113271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Re-auth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30468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6772" y="1325880"/>
            <a:ext cx="1242441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1636" y="1399032"/>
            <a:ext cx="113271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Upload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437501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3805" y="1325880"/>
            <a:ext cx="1242441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8669" y="1399032"/>
            <a:ext cx="113271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Server
Validation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44534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90838" y="1325880"/>
            <a:ext cx="1242441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45702" y="1399032"/>
            <a:ext cx="113271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Conflict
Detection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251567" y="1536192"/>
            <a:ext cx="128016" cy="146304"/>
          </a:xfrm>
          <a:prstGeom prst="rightArrow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397871" y="1325880"/>
            <a:ext cx="1242441" cy="56692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3EC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52735" y="1399032"/>
            <a:ext cx="113271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Segoe UI"/>
              </a:rPr>
              <a:t>ACK →
SYNCED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214884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2148840"/>
            <a:ext cx="50800" cy="210312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22951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21C7B8"/>
                </a:solidFill>
                <a:latin typeface="Segoe UI"/>
              </a:rPr>
              <a:t>WORKS FULLY OFFLINE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599944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Policy-based offline authentication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Downloaded courses, lectures, documents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MCQ assessments and scoring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AI troubleshooting + Digital Twin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Diagnostic records with attachments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Local knowledge search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5968" y="214884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2148840"/>
            <a:ext cx="50800" cy="2103120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22951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3EC5F0"/>
                </a:solidFill>
                <a:latin typeface="Segoe UI"/>
              </a:rPr>
              <a:t>LEDGER RECORD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2599944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transaction_id · device_id · user_id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entity_type · entity_id · operation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payload · created_at · updated_at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sync_status · retry_count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States: PENDING → SYNCING → SYNCED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                    ↘ FAILED / CONFLICT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74152" y="214884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74152" y="2148840"/>
            <a:ext cx="50800" cy="2103120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20" y="229514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9A3C"/>
                </a:solidFill>
                <a:latin typeface="Segoe UI"/>
              </a:rPr>
              <a:t>CONFLICT RESOLUTION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2599944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Per-entity strategy — never blind overwrite: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Progress / quiz → highest-attempt merge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Profile fields → field-level merge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Course content → server version wins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Diagnostics → manual resolution queue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Critical records are never dropped silently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45720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21C7B8"/>
                </a:solidFill>
                <a:latin typeface="Segoe UI"/>
              </a:rPr>
              <a:t>FAILURE BEHAVIOUR — tested explicitly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49834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Internet drops mid-session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banner flips to OFFLINE · LOCAL ENGINE ACTIVE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49834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Backend crashes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edge app continues; queue keeps growing safely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9834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Local AI unavailable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deterministic rule-based fallback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4864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App killed during sync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idempotent transaction IDs, queue replays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0" y="54864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Corrupted asset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checksum mismatch → re-download, old version retained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548640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Invalid API response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typed error envelope → user-visible validation message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Security &amp; Governance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Defence in layers — enforced on the server, not just hidden in the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0800" cy="237744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51790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21C7B8"/>
                </a:solidFill>
                <a:latin typeface="Segoe UI"/>
              </a:rPr>
              <a:t>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810004"/>
            <a:ext cx="23317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Encrypted database (SQLCipher)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Keys in platform keystore / DPAPI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AES-256-GCM for sensitive blobs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Session timeout &amp; re-auth policy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Integrity checks on assets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2424" y="137160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2424" y="1371600"/>
            <a:ext cx="50800" cy="2377440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151790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3EC5F0"/>
                </a:solidFill>
                <a:latin typeface="Segoe UI"/>
              </a:rPr>
              <a:t>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1810004"/>
            <a:ext cx="23317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HTTPS with certificate validation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Authenticated, versioned API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Request schema validation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Rate limiting per device/user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Device registration &amp; revocation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37160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7" y="1371600"/>
            <a:ext cx="50800" cy="2377440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5" y="151790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9A3C"/>
                </a:solidFill>
                <a:latin typeface="Segoe UI"/>
              </a:rPr>
              <a:t>BACKEND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1810004"/>
            <a:ext cx="23317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RBAC on every endpoint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Argon2id password hashing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JWT access + rotating refresh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Input validation via Pydantic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No secrets in code — .env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9992" y="137160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79992" y="1371600"/>
            <a:ext cx="50800" cy="2377440"/>
          </a:xfrm>
          <a:prstGeom prst="rect">
            <a:avLst/>
          </a:prstGeom>
          <a:solidFill>
            <a:srgbClr val="4CD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151790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4CD97B"/>
                </a:solidFill>
                <a:latin typeface="Segoe UI"/>
              </a:rPr>
              <a:t>AUDIT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1810004"/>
            <a:ext cx="23317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LOGIN / LOGOUT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DOCUMENT_ACCESS · AI_ANALYSIS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TRAINING_COMPLETED · QUIZ_ATTEMPT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DIAGNOSTIC_CREATED / UPDATED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SYNC_* · ADMIN_ACTION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31920"/>
            <a:ext cx="5349240" cy="224028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0690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21C7B8"/>
                </a:solidFill>
                <a:latin typeface="Segoe UI"/>
              </a:rPr>
              <a:t>ROLE-BASED PERMISSIONS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805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Trainee / Field Engineer →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profile · enroll · learn · assess · feedback · diagnostics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92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Trainer / Training Officer →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content · questionnaires · deadlines · library · analytics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035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Admin →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approvals · roles · dashboards · publishing · assets ·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715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Supervisor (extension) →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read-only oversight of team progress and asset health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931920"/>
            <a:ext cx="5330952" cy="224028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40690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9A3C"/>
                </a:solidFill>
                <a:latin typeface="Segoe UI"/>
              </a:rPr>
              <a:t>OFFLINE AUTHENTICATION POLICY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480560"/>
            <a:ext cx="4892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Offline login is a deliberate, bounded compromise and is documented as such: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· Only devices registered and approved by an Admin may cache credentials.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· A salted Argon2id verifier — never the password — is cached locally.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· The offline grace window is configurable (default 7 days) then hard-locks.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· All offline actions are audit-logged and re-verified at next sync.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Data Model &amp; API Surface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Migration-driven schema, versioned REST endpoints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2103120" cy="288036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2103120" cy="508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938528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22199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roles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505456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permissions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88920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devices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072384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sessions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3355848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profiles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6393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qualifications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922776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certificates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98064" y="1371600"/>
            <a:ext cx="2103120" cy="288036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8064" y="1371600"/>
            <a:ext cx="2103120" cy="50800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44368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LEARNING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1938528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courses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44368" y="222199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modules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4368" y="2505456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lessons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4368" y="2788920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media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3072384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documents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44368" y="3355848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enrollments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44368" y="36393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progress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44368" y="3922776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feedback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488" y="1371600"/>
            <a:ext cx="2103120" cy="288036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47488" y="1371600"/>
            <a:ext cx="2103120" cy="508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ASSESSMENT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1938528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quizzes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3792" y="222199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questions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93792" y="2505456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options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2788920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attempts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3792" y="3072384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answers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3355848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scores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93792" y="36393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deadlines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93792" y="3922776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certifications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6912" y="1371600"/>
            <a:ext cx="2103120" cy="288036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96912" y="1371600"/>
            <a:ext cx="2103120" cy="50800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43216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OPERATIONS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43216" y="1938528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components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43216" y="222199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component_faults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2505456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maintenance_procedures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43216" y="2788920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digital_twin_models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43216" y="3072384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diagnostics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43216" y="3355848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maintenance_records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43216" y="36393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work_orders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43216" y="3922776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attachments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546336" y="1371600"/>
            <a:ext cx="2103120" cy="288036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546336" y="1371600"/>
            <a:ext cx="2103120" cy="508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2640" y="1554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PLATFORM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2640" y="1938528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sync_transactions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0" y="222199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audit_logs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92640" y="2505456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notifications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92640" y="2788920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announcements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072384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competency_map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2640" y="3355848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trainer_subjects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92640" y="36393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settings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2640" y="3922776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content_versions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" y="45720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FF9A3C"/>
                </a:solidFill>
                <a:latin typeface="Segoe UI"/>
              </a:rPr>
              <a:t>VERSIONED API  /api/v1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4983480"/>
            <a:ext cx="754380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960" y="5047488"/>
            <a:ext cx="7543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/auth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687068" y="4983480"/>
            <a:ext cx="832104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87068" y="5047488"/>
            <a:ext cx="8321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/users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628900" y="4983480"/>
            <a:ext cx="1065276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28900" y="5047488"/>
            <a:ext cx="1065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/profiles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803904" y="4983480"/>
            <a:ext cx="987552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803904" y="5047488"/>
            <a:ext cx="9875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/courses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901184" y="4983480"/>
            <a:ext cx="987552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01184" y="5047488"/>
            <a:ext cx="9875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/lessons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998464" y="4983480"/>
            <a:ext cx="832104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98464" y="5047488"/>
            <a:ext cx="8321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/media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40296" y="4983480"/>
            <a:ext cx="1143000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940296" y="5047488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/documents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193024" y="4983480"/>
            <a:ext cx="987552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193024" y="5047488"/>
            <a:ext cx="9875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/quizzes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290304" y="4983480"/>
            <a:ext cx="1065276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90304" y="5047488"/>
            <a:ext cx="10652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/attempts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440680"/>
            <a:ext cx="1298448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2960" y="5504688"/>
            <a:ext cx="1298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/enrollments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231136" y="5440680"/>
            <a:ext cx="1220724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231136" y="5504688"/>
            <a:ext cx="12207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/components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61588" y="5440680"/>
            <a:ext cx="1376172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61588" y="5504688"/>
            <a:ext cx="13761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/digital-twin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047488" y="5440680"/>
            <a:ext cx="1298448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047488" y="5504688"/>
            <a:ext cx="1298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/diagnostics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455664" y="5440680"/>
            <a:ext cx="1298448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5664" y="5504688"/>
            <a:ext cx="1298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/maintenance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863840" y="5440680"/>
            <a:ext cx="1220724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863840" y="5504688"/>
            <a:ext cx="12207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/competency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194292" y="5440680"/>
            <a:ext cx="1453896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94292" y="5504688"/>
            <a:ext cx="145389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/notifications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2960" y="5897880"/>
            <a:ext cx="754380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22960" y="5961888"/>
            <a:ext cx="7543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/sync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687068" y="5897880"/>
            <a:ext cx="832104" cy="329184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2A5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687068" y="5961888"/>
            <a:ext cx="8321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3EC5F0"/>
                </a:solidFill>
                <a:latin typeface="Segoe UI"/>
              </a:rPr>
              <a:t>/audit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Live Engineering Demo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The demo is the real product pipeline — no scripted animation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554480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1848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600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Login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199339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Trainee credentials, session issued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2424" y="1417320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9584" y="1554480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9584" y="161848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6" y="1600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7016" y="199339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Live counts from the local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1417320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7" y="1554480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7" y="161848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7999" y="1600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Disable Internet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199339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UI flips to OFFLINE · LOCAL ENGINE ACTIVE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9992" y="1417320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17152" y="1554480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17152" y="161848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1784" y="1600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Enter Fault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4584" y="199339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"abnormal vibration and casing fracture"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715768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2852928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169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2898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Local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32918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127.0.0.1 pipeline returns structured 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92424" y="2715768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529584" y="2852928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9584" y="29169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14216" y="2898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Component 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7016" y="32918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SONAR-001 · confidence 0.94 · HIGH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36207" y="2715768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73367" y="2852928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3367" y="29169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7999" y="2898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Digital Twin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799" y="32918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Mesh_042 highlighted in CRITICAL state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79992" y="2715768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17152" y="2852928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7152" y="29169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01784" y="28986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Guidance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44584" y="32918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Diagnostic procedure from knowledge base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4014215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85800" y="4151375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21538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0432" y="4197095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Create Record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4590287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Diagnostic saved locally with attachments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392424" y="4014215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529584" y="4151375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29584" y="421538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14216" y="4197095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Take Quiz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57016" y="4590287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MCQ attempt scored and persisted offline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36207" y="4014215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373367" y="4151375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7" y="421538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7999" y="4197095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Restart App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799" y="4590287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All data still present — proves real persistence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79992" y="4014215"/>
            <a:ext cx="2697480" cy="11155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217152" y="4151375"/>
            <a:ext cx="365760" cy="365760"/>
          </a:xfrm>
          <a:prstGeom prst="ellipse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17152" y="421538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061B36"/>
                </a:solidFill>
                <a:latin typeface="Segoe U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01784" y="4197095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Reconnect &amp; Sync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44584" y="4590287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Queue drains, records marked SYNCED, admin sees them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8640" y="553212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21C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" y="56692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1">
                <a:solidFill>
                  <a:srgbClr val="21C7B8"/>
                </a:solidFill>
                <a:latin typeface="Segoe UI"/>
              </a:rPr>
              <a:t>Acceptance criterion: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every stage above is executed against the real database, the real parser and the real sync ledger. If any critical stage fails, the build is not shipped.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Feasibility, Risks &amp; Mitigation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Honest engineering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1091672" cy="384048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RISK /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4630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MITIGATION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55648"/>
            <a:ext cx="11091672" cy="731520"/>
          </a:xfrm>
          <a:prstGeom prst="rect">
            <a:avLst/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01952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Large 3D models on low-end field tablets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901952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Decimated LOD meshes shipped by default; full-resolution GLB is an optional download; renderer degrades to metadata-only 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05456"/>
            <a:ext cx="11091672" cy="731520"/>
          </a:xfrm>
          <a:prstGeom prst="rect">
            <a:avLst/>
          </a:prstGeom>
          <a:solidFill>
            <a:srgbClr val="0B2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65176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No local LLM available on device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65176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Deterministic keyword/phrase/fuzzy + TF-IDF retrieval is the baseline and is fully functional; LLM slot is pluggable, not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55264"/>
            <a:ext cx="11091672" cy="731520"/>
          </a:xfrm>
          <a:prstGeom prst="rect">
            <a:avLst/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015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Offline credential caching weakens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401568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Admin-approved devices only, Argon2id verifier, bounded grace window, full audit and re-verification on reconnect.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05072"/>
            <a:ext cx="11091672" cy="731520"/>
          </a:xfrm>
          <a:prstGeom prst="rect">
            <a:avLst/>
          </a:prstGeom>
          <a:solidFill>
            <a:srgbClr val="0B2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151376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Sync conflicts on shared records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151376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Per-entity strategies with an explicit manual-resolution queue; diagnostics are never auto-overwritten.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54879"/>
            <a:ext cx="11091672" cy="731520"/>
          </a:xfrm>
          <a:prstGeom prst="rect">
            <a:avLst/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901183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Storage exhaustion on field devices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901183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Storage manager with per-category usage, resumable downloads, permissioned removal of optional assets only.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504687"/>
            <a:ext cx="11091672" cy="731520"/>
          </a:xfrm>
          <a:prstGeom prst="rect">
            <a:avLst/>
          </a:prstGeom>
          <a:solidFill>
            <a:srgbClr val="0B26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650991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Scope is large for hackathon timeline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5650991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Strict priority order: working app → offline → troubleshooting → twin → diagnostics → training → sync → security → admin.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Viability: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entirely open-source stack, single Dart codebase across four targets, containerized backend deployable on existing MoES/IMD infrastructure — no per-seat licensing.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Impact &amp; Benefits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For personnel, for the organisation, for the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0800" cy="192024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517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21C7B8"/>
                </a:solidFill>
                <a:latin typeface="Segoe UI"/>
              </a:rPr>
              <a:t>FOR TRAINEES / FIELD STAFF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822704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Learn and get certified from a vessel or remote observatory with zero connectivity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Instant AI-assisted diagnostic guidance instead of waiting for shore support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A portable, verifiable competency profile with skills and certificates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37160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35624" y="1371600"/>
            <a:ext cx="50800" cy="1920240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517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3EC5F0"/>
                </a:solidFill>
                <a:latin typeface="Segoe UI"/>
              </a:rPr>
              <a:t>FOR TRAINERS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822704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One library for lectures, slides and material with versioning and reach analytics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Questionnaires with deadlines, auto-scoring and participation visibility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Feedback loop that shows which content actually 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747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50800" cy="1920240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62102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9A3C"/>
                </a:solidFill>
                <a:latin typeface="Segoe UI"/>
              </a:rPr>
              <a:t>FOR ADMINISTRATION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925824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Live dashboards of enrollment, certification and assessment across the organisation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Competency mapping surfaces the right trainer for each subject, objectively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Complete audit trail for governance, compliance and reporting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5624" y="34747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3474720"/>
            <a:ext cx="50800" cy="1920240"/>
          </a:xfrm>
          <a:prstGeom prst="rect">
            <a:avLst/>
          </a:prstGeom>
          <a:solidFill>
            <a:srgbClr val="4CD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362102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4CD97B"/>
                </a:solidFill>
                <a:latin typeface="Segoe UI"/>
              </a:rPr>
              <a:t>FOR THE MISSION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3925824"/>
            <a:ext cx="502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Reduced instrument downtime through faster, guided fault resolution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Institutional knowledge captured once and reused everywhere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 b="0">
                <a:solidFill>
                  <a:srgbClr val="B9C9DA"/>
                </a:solidFill>
                <a:latin typeface="Segoe UI"/>
              </a:rPr>
              <a:t>Scalable to other MoES bodies — INCOIS, NCPOR, NIOT — with the same 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11091672" cy="777240"/>
          </a:xfrm>
          <a:prstGeom prst="roundRect">
            <a:avLst>
              <a:gd name="adj" fmla="val 8000"/>
            </a:avLst>
          </a:prstGeom>
          <a:solidFill>
            <a:srgbClr val="0C2A4D"/>
          </a:solidFill>
          <a:ln w="12700">
            <a:solidFill>
              <a:srgbClr val="21C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424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21C7B8"/>
                </a:solidFill>
                <a:latin typeface="Segoe UI"/>
              </a:rPr>
              <a:t>↓ 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053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target fault-resolution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79" y="57424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21C7B8"/>
                </a:solidFill>
                <a:latin typeface="Segoe UI"/>
              </a:rPr>
              <a:t>↑ 3×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79" y="6053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assessment throughput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424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21C7B8"/>
                </a:solidFill>
                <a:latin typeface="Segoe U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53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cloud dependency offline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19" y="57424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21C7B8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19" y="6053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B9C9DA"/>
                </a:solidFill>
                <a:latin typeface="Segoe UI"/>
              </a:rPr>
              <a:t>source of truth for competency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21C7B8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46304"/>
            <a:ext cx="9509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Delivery Roadmap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Phase-gated: plan → build → run → test → verify →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2926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>
                <a:solidFill>
                  <a:srgbClr val="B9C9DA"/>
                </a:solidFill>
                <a:latin typeface="Segoe UI"/>
              </a:rPr>
              <a:t>SIH 2026 · PS 26075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0800" cy="658368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21C7B8"/>
                </a:solidFill>
                <a:latin typeface="Segoe UI"/>
              </a:rPr>
              <a:t>P1–P4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61848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Repo, environment, Flutter shell, design system, 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9456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194560"/>
            <a:ext cx="50800" cy="658368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37744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3EC5F0"/>
                </a:solidFill>
                <a:latin typeface="Segoe UI"/>
              </a:rPr>
              <a:t>P5–P8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3774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Core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39572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Local database, authentication, RBAC, live dashboard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97180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971800"/>
            <a:ext cx="50800" cy="658368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15468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9A3C"/>
                </a:solidFill>
                <a:latin typeface="Segoe UI"/>
              </a:rPr>
              <a:t>P9–P12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154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Learning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17296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Training, media management, documents, quiz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4904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749040"/>
            <a:ext cx="50800" cy="658368"/>
          </a:xfrm>
          <a:prstGeom prst="rect">
            <a:avLst/>
          </a:prstGeom>
          <a:solidFill>
            <a:srgbClr val="4CD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9319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4CD97B"/>
                </a:solidFill>
                <a:latin typeface="Segoe UI"/>
              </a:rPr>
              <a:t>P13–P18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393192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95020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Diagnostics, hardware registry, local AI, knowledge engine, Digital Twin integration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2628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526280"/>
            <a:ext cx="50800" cy="658368"/>
          </a:xfrm>
          <a:prstGeom prst="rect">
            <a:avLst/>
          </a:prstGeom>
          <a:solidFill>
            <a:srgbClr val="3EC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091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3EC5F0"/>
                </a:solidFill>
                <a:latin typeface="Segoe UI"/>
              </a:rPr>
              <a:t>P19–P22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47091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Connectivity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72744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Offline engine, synchronization, backend, admin portal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303520"/>
            <a:ext cx="11091672" cy="658368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303520"/>
            <a:ext cx="50800" cy="658368"/>
          </a:xfrm>
          <a:prstGeom prst="rect">
            <a:avLst/>
          </a:prstGeom>
          <a:solidFill>
            <a:srgbClr val="FF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4864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FF9A3C"/>
                </a:solidFill>
                <a:latin typeface="Segoe UI"/>
              </a:rPr>
              <a:t>P23–P32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3120" y="548640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Hardening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550468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Security, voice, localization, reporting, observability, tests, production builds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Definition of Done: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B9C9DA"/>
                </a:solidFill>
                <a:latin typeface="Segoe UI"/>
              </a:rPr>
              <a:t>code exists AND build succeeds AND tests pass AND UI works AND database works AND error states work AND offline behaviour is verified AND documentation is updated.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C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0"/>
            <a:ext cx="12191695" cy="50800"/>
          </a:xfrm>
          <a:prstGeom prst="rect">
            <a:avLst/>
          </a:prstGeom>
          <a:solidFill>
            <a:srgbClr val="21C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CAPACITY CONNECT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21C7B8"/>
                </a:solidFill>
                <a:latin typeface="Segoe UI"/>
              </a:rPr>
              <a:t>Build the capability, not just the portal.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6675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>
                <a:solidFill>
                  <a:srgbClr val="B9C9DA"/>
                </a:solidFill>
                <a:latin typeface="Segoe UI"/>
              </a:rPr>
              <a:t>A centralized, secure, role-based capacity-building platform that keeps working where MoES and IMD personnel actually work — on vessels, at buoy stations and in remote observatories — and reconciles everything the moment the network returns.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6052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4CD97B"/>
                </a:solidFill>
                <a:latin typeface="Segoe UI"/>
              </a:rPr>
              <a:t>✓ 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Real offline-first local database, not a cache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44568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4CD97B"/>
                </a:solidFill>
                <a:latin typeface="Segoe UI"/>
              </a:rPr>
              <a:t>✓ 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Local AI engine with a defined confidence algorithm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28616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4CD97B"/>
                </a:solidFill>
                <a:latin typeface="Segoe UI"/>
              </a:rPr>
              <a:t>✓ 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Digital Twin driven by a decoupled state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12664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4CD97B"/>
                </a:solidFill>
                <a:latin typeface="Segoe UI"/>
              </a:rPr>
              <a:t>✓ 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Auditable sync ledger with explicit conflict handling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96712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4CD97B"/>
                </a:solidFill>
                <a:latin typeface="Segoe UI"/>
              </a:rPr>
              <a:t>✓  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B9C9DA"/>
                </a:solidFill>
                <a:latin typeface="Segoe UI"/>
              </a:rPr>
              <a:t>RBAC enforced at the API, not just in the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560320"/>
            <a:ext cx="3776472" cy="3566160"/>
          </a:xfrm>
          <a:prstGeom prst="roundRect">
            <a:avLst>
              <a:gd name="adj" fmla="val 8000"/>
            </a:avLst>
          </a:prstGeom>
          <a:solidFill>
            <a:srgbClr val="102F53"/>
          </a:solidFill>
          <a:ln w="12700">
            <a:solidFill>
              <a:srgbClr val="1C4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7889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21C7B8"/>
                </a:solidFill>
                <a:latin typeface="Segoe UI"/>
              </a:rPr>
              <a:t>SUBMISSION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20040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21C7B8"/>
                </a:solidFill>
                <a:latin typeface="Segoe UI"/>
              </a:rPr>
              <a:t>PROBLEM STATEMENT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40156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26075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7588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21C7B8"/>
                </a:solidFill>
                <a:latin typeface="Segoe UI"/>
              </a:rPr>
              <a:t>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770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Capacity Connect — Digital Capacity Building &amp; Learning Management Portal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33425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21C7B8"/>
                </a:solidFill>
                <a:latin typeface="Segoe UI"/>
              </a:rPr>
              <a:t>ORGANIZATION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5354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Ministry of Earth Sciences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80974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21C7B8"/>
                </a:solidFill>
                <a:latin typeface="Segoe UI"/>
              </a:rPr>
              <a:t>DEPARTMENT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5010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India Meteorological Department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28523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21C7B8"/>
                </a:solidFill>
                <a:latin typeface="Segoe UI"/>
              </a:rPr>
              <a:t>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5486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Software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576072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21C7B8"/>
                </a:solidFill>
                <a:latin typeface="Segoe UI"/>
              </a:rPr>
              <a:t>THEME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59618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Smart Education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