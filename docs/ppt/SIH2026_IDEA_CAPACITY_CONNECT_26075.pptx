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7453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858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000" b="1">
                <a:solidFill>
                  <a:srgbClr val="F27C1E"/>
                </a:solidFill>
                <a:latin typeface="Calibri"/>
              </a:rPr>
              <a:t>TITLE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430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600" b="1">
                <a:solidFill>
                  <a:srgbClr val="1F3864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28800"/>
            <a:ext cx="2377440" cy="635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148840"/>
            <a:ext cx="7589520" cy="56692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148840"/>
            <a:ext cx="50800" cy="566928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231136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Problem Statement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194560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26075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98064"/>
            <a:ext cx="7589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98064"/>
            <a:ext cx="50800" cy="566928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803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Problem Statement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843784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CAPACITY CONNECT — A Digital Capacity Building and Learning Management Portal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447288"/>
            <a:ext cx="7589520" cy="56692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447288"/>
            <a:ext cx="50800" cy="566928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529584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493008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Smart Education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096512"/>
            <a:ext cx="7589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096512"/>
            <a:ext cx="50800" cy="566928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178808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PS Category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142232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745736"/>
            <a:ext cx="7589520" cy="56692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4745736"/>
            <a:ext cx="50800" cy="566928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82803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Team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791456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Team 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94960"/>
            <a:ext cx="7589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5394960"/>
            <a:ext cx="50800" cy="566928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477256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Team Name (Registered on portal)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440680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2148840"/>
            <a:ext cx="2834640" cy="370332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9680" y="23774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E6FBA"/>
                </a:solidFill>
                <a:latin typeface="Calibri"/>
              </a:rPr>
              <a:t>ORGANISATION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26974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Ministry of Earth Sciences (MoES)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4015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E6FBA"/>
                </a:solidFill>
                <a:latin typeface="Calibri"/>
              </a:rPr>
              <a:t>DEPARTMENT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7033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India Meteorological Department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69680" y="4434840"/>
            <a:ext cx="2377440" cy="381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69680" y="461772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444C57"/>
                </a:solidFill>
                <a:latin typeface="Calibri"/>
              </a:rPr>
              <a:t>Offline-first, secure, role-based capacity building for field, vessel and observatory personnel.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IDEA TITLE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2412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>
                <a:solidFill>
                  <a:srgbClr val="F27C1E"/>
                </a:solidFill>
                <a:latin typeface="Calibri"/>
              </a:rPr>
              <a:t>CAPACITY CONNECT — one offline-first portal for learning, assessment, competency mapping and AI-assisted field troubleshooting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444752"/>
            <a:ext cx="69494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508760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❖ Proposed Solution (Describe your Idea/Solution/Prototype)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202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224485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19456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Single portal, three roles. 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Trainee, Trainer and Admin — secure signup/login with Admin approval and role management.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2683764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633472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Trainee: 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professional profile (qualifications, experience, skills, interests, certificates), course enrollment, learning resources, subject-wise MCQ assessments and course feedback.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3122676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72384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Trainer: 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profile &amp; competency declaration, questionnaires with deadlines, participation and performance monitoring, and a Trainer Library of recorded lectures, presentations and study material.</a:t>
            </a:r>
          </a:p>
        </p:txBody>
      </p:sp>
      <p:sp>
        <p:nvSpPr>
          <p:cNvPr id="22" name="Oval 21"/>
          <p:cNvSpPr/>
          <p:nvPr/>
        </p:nvSpPr>
        <p:spPr>
          <a:xfrm>
            <a:off x="566928" y="3561588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11296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Admin: 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user approval, dashboards for courses / enrollments / certifications / assessments / participation, and homepage publishing of notifications, announcements, achievements and new content.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4000500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950208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Competency mapping engine 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scores trainers against subject requirements to objectively identify the right trainer.</a:t>
            </a:r>
          </a:p>
        </p:txBody>
      </p:sp>
      <p:sp>
        <p:nvSpPr>
          <p:cNvPr id="26" name="Oval 25"/>
          <p:cNvSpPr/>
          <p:nvPr/>
        </p:nvSpPr>
        <p:spPr>
          <a:xfrm>
            <a:off x="566928" y="443941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389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Offline-first edge app: 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a real local database plus a local AI node on 127.0.0.1, so work continues at sea and at remote sites.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73752"/>
            <a:ext cx="69494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937760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30" name="Oval 29"/>
          <p:cNvSpPr/>
          <p:nvPr/>
        </p:nvSpPr>
        <p:spPr>
          <a:xfrm>
            <a:off x="566928" y="539953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492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Replaces scattered drives, mail and spreadsheets with one auditable source of truth for learning and competency.</a:t>
            </a:r>
          </a:p>
        </p:txBody>
      </p:sp>
      <p:sp>
        <p:nvSpPr>
          <p:cNvPr id="32" name="Oval 31"/>
          <p:cNvSpPr/>
          <p:nvPr/>
        </p:nvSpPr>
        <p:spPr>
          <a:xfrm>
            <a:off x="566928" y="5838444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788152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Removes the connectivity barrier: every feature works offline and reconciles automatically on reconnect.</a:t>
            </a:r>
          </a:p>
        </p:txBody>
      </p:sp>
      <p:sp>
        <p:nvSpPr>
          <p:cNvPr id="34" name="Oval 33"/>
          <p:cNvSpPr/>
          <p:nvPr/>
        </p:nvSpPr>
        <p:spPr>
          <a:xfrm>
            <a:off x="566928" y="6103620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6053328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Turns tacit instrument know-how into retrievable, guided diagnostic procedures.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1444752"/>
            <a:ext cx="4114800" cy="475488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2011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Offline is the default, not a fallback.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2128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The local SQLite/Drift store is a functioning operating database, not a cache.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2697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Local AI engine with no cloud LLM.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28986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Deterministic keyword→phrase→fuzzy→retrieval pipeline returns structured JSON on 127.0.0.1.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3383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Learning fused with operations.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35844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A described fault maps to a real asset and to the exact training module that covers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4069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3D Digital Twin guidance.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2702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SONAR-001 → Mesh_042 highlighted in CRITICAL state from locally cached GLTF/GLB.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Objective competency mapping.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49560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Trainer-to-subject fit is computed from skills, certificates and assessment outcomes.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5440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Auditable sync ledger.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56418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Every offline action is a versioned transaction with explicit conflict handling.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TECHNICAL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Technologies to be used (programming languages, frameworks, hardware)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27048"/>
            <a:ext cx="2697480" cy="1572768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527048"/>
            <a:ext cx="269748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6459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E6FBA"/>
                </a:solidFill>
                <a:latin typeface="Calibri"/>
              </a:rPr>
              <a:t>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9385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Flutter 3 / Dart, Material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1671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Riverpod state · GoRouter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3957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Drift + SQLite (SQLCipher)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6243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flutter_secure_storage · 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8529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Android · Windows · Linux · Web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1527048"/>
            <a:ext cx="2697480" cy="1572768"/>
          </a:xfrm>
          <a:prstGeom prst="rect">
            <a:avLst/>
          </a:prstGeom>
          <a:solidFill>
            <a:srgbClr val="FDF0E2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10128" y="1527048"/>
            <a:ext cx="269748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7288" y="16459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F27C1E"/>
                </a:solidFill>
                <a:latin typeface="Calibri"/>
              </a:rPr>
              <a:t>LOCAL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7288" y="19385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Python 3.11 · FastAPI on 127.0.0.1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7288" y="21671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Normalize · language detect · tokenize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3957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Keyword / phrase / RapidFuzz match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26243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TF-IDF knowledge retrieval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28529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Pluggable local LLM slot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6" y="1527048"/>
            <a:ext cx="2697480" cy="1572768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6" y="1527048"/>
            <a:ext cx="269748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16459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2E8B57"/>
                </a:solidFill>
                <a:latin typeface="Calibri"/>
              </a:rPr>
              <a:t>3D &amp; MEDIA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19385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GLTF / GLB cached locally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21671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Mesh mapping + fault state 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216" y="23957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Chunked resumable downloads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26243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Streaming video · PDF viewer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28529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Optional speech-to-text input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15984" y="1527048"/>
            <a:ext cx="2697480" cy="15727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15984" y="1527048"/>
            <a:ext cx="2697480" cy="508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53144" y="16459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BACKEND &amp;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3144" y="19385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FastAPI · SQLAlchemy · Pydantic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21671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PostgreSQL + Alembic migrations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144" y="23957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Celery workers · JWT + refresh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53144" y="26243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Docker · GitHub Actions CI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53144" y="28529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pytest · flutter test/analyze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3310128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4" y="3374136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3785616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A. System architecture — edge application works with zero connectivity; cloud platform is independently deployable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Flutter Client
(Material 3)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1754505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887093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3669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Local AI Node
127.0.0.1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3184398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316986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53562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Local DB
SQLCipher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4614291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46879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83455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Digital Twin
GLTF/GLB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6044184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176772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3348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Sync Ledger
(encrypted)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7474077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606665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43241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FastAPI
/api/v1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8903970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036558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73134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PostgreSQL
+ workers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10333863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466451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503027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Admin Portal
&amp; Dashboards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47731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B. Local AI troubleshooting pipeline — returns structured JSON, confidence is a defined weighted score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Input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1754505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887093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923669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Normalize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3184398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316986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53562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Tokenize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4614291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746879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83455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Keyword +
Phrase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6044184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176772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13348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Fuzzy
Match</a:t>
            </a:r>
          </a:p>
        </p:txBody>
      </p:sp>
      <p:sp>
        <p:nvSpPr>
          <p:cNvPr id="87" name="Right Arrow 86"/>
          <p:cNvSpPr/>
          <p:nvPr/>
        </p:nvSpPr>
        <p:spPr>
          <a:xfrm>
            <a:off x="7474077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606665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43241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Knowledge
Retrieval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8903970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036558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073134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Component
+ Severity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10333863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0466451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03027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3D Mesh
Mapping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5705856"/>
            <a:ext cx="112928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" y="578815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Worked example: "Sonar transducer showing abnormal vibration and casing fracture" → 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SONAR-001 · Sonar Transducer Array · Mesh_042 · severity HIGH · confidence 0.94 → Digital Twin highlight + diagnostic procedure + diagnostic record saved offline.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FEASIBILITY AND VIABILITY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27048"/>
            <a:ext cx="5486400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527048"/>
            <a:ext cx="50800" cy="6217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16002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Technically proven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1819656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Flutter, FastAPI and PostgreSQL are mature and fully open-source; one Dart codebase covers Android, Windows, Linux and Web.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527048"/>
            <a:ext cx="5486400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527048"/>
            <a:ext cx="50800" cy="6217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16002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No exotic 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1819656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Runs on existing MoES/IMD field tablets and vessel workstations; backend is containerised on existing infrastructure.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221992"/>
            <a:ext cx="5486400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221992"/>
            <a:ext cx="50800" cy="6217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295144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Zero licensing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51460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Entirely open-source; no per-seat fees, so scaling to more users and institutes costs only storage and compute.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221992"/>
            <a:ext cx="5486400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2221992"/>
            <a:ext cx="50800" cy="6217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2295144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Incremental rollout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51460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Portal features usable from day one; AI and Digital Twin layers extend the same schema without rework.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008376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3072384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Potential challenges and risks  →  Strategies for overcoming these challenges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83864"/>
            <a:ext cx="112928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53872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CHALLENGE / RISK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538728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MITIGATION STRATEGY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94760"/>
            <a:ext cx="11292840" cy="4297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587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Poor / no connectivity at sea and remote sites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3858768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Offline-first architecture: local operating DB + local AI node; sync ledger drains automatically on reconnect.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24528"/>
            <a:ext cx="11292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28853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Large 3D models on low-end field devices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4288536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Decimated LOD meshes by default, full-resolution GLB as optional download; renderer degrades to metadata-only view.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654296"/>
            <a:ext cx="11292840" cy="4297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71830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Offline credential caching weakens authentication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471830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Admin-approved devices only, Argon2id verifier (never the password), bounded grace window, audit + re-verification on sync.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084064"/>
            <a:ext cx="11292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14807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Sync conflicts on shared records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5148072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Per-entity strategies (version compare, field merge, manual queue); diagnostic records are never silently overwritten.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513831"/>
            <a:ext cx="11292840" cy="4297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57783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Digital literacy and user adoption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0" y="5577839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Role-tailored simple UI, localisation-ready strings for Indian languages, optional voice input, in-app guided demo scenario.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943599"/>
            <a:ext cx="11292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007607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Storage exhaustion on field devices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0" y="6007607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Storage manager with per-category usage, resumable downloads, permissioned removal of optional assets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IMPACT AND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27048"/>
            <a:ext cx="3611880" cy="169164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527048"/>
            <a:ext cx="361188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6550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E6FBA"/>
                </a:solidFill>
                <a:latin typeface="Calibri"/>
              </a:rPr>
              <a:t>TRAINEES / FIELD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19659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Learn, test and get certified with zero connectivity — at sea, at buoy sites, in observatories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2368296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Guided AI diagnostics instead of waiting for shore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770632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Portable, verifiable competency profile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1527048"/>
            <a:ext cx="3611880" cy="1691640"/>
          </a:xfrm>
          <a:prstGeom prst="rect">
            <a:avLst/>
          </a:prstGeom>
          <a:solidFill>
            <a:srgbClr val="FDF0E2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1527048"/>
            <a:ext cx="361188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16550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F27C1E"/>
                </a:solidFill>
                <a:latin typeface="Calibri"/>
              </a:rPr>
              <a:t>TRAINERS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8264" y="19659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One versioned library for lectures, presentations and material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2368296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Questionnaires with deadlines, auto-scoring, live participation 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8264" y="2770632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Feedback shows which content actually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527048"/>
            <a:ext cx="3611880" cy="1691640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527048"/>
            <a:ext cx="361188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4" y="16550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2E8B57"/>
                </a:solidFill>
                <a:latin typeface="Calibri"/>
              </a:rPr>
              <a:t>ADMINISTRATION / MoES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19659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Live dashboards of enrollment, certification and assessment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4" y="2368296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Objective trainer selection via competency mapping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4" y="2770632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Complete audit trail for governance and reporting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2900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349300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04488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904488"/>
            <a:ext cx="50800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401421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SOCIAL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288536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Equitable access to training for remote and shipboard staff; skill recognition through verifiable certificates; localisation-ready for Indian-language expansion; safer field work through guided procedures.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3904488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51960" y="3904488"/>
            <a:ext cx="50800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16552" y="401421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ECONOMIC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16552" y="4288536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Lower instrument downtime and fewer avoidable failures; reduced travel and physical-classroom cost; open-source stack with no licensing fees; reusable across INCOIS, NCPOR and NIOT on the same core.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3904488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46720" y="3904488"/>
            <a:ext cx="50800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11312" y="4014216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ENVIRONMENTAL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288536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Fewer service trips and paper-free assessments; longer instrument life through timely preventive maintenance; better-maintained ocean and weather sensors mean higher-quality earth-science data.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21808"/>
            <a:ext cx="11292840" cy="56692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413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>
                <a:solidFill>
                  <a:srgbClr val="F27C1E"/>
                </a:solidFill>
                <a:latin typeface="Calibri"/>
              </a:rPr>
              <a:t>100%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83080" y="54864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core features usable offline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55848" y="5413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>
                <a:solidFill>
                  <a:srgbClr val="F27C1E"/>
                </a:solidFill>
                <a:latin typeface="Calibri"/>
              </a:rPr>
              <a:t>↓ 40%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90288" y="54864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target fault-resolution 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63055" y="5413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>
                <a:solidFill>
                  <a:srgbClr val="F27C1E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97495" y="54864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roles, one governed platform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70263" y="5413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>
                <a:solidFill>
                  <a:srgbClr val="F27C1E"/>
                </a:solidFill>
                <a:latin typeface="Calibr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04703" y="54864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platforms, one codebase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RESEARCH AND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27048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527048"/>
            <a:ext cx="548640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165506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E6FBA"/>
                </a:solidFill>
                <a:latin typeface="Calibri"/>
              </a:rPr>
              <a:t>Problem &amp; organisational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1984248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SIH 2026 Problem Statement 26075 — Ministry of Earth Sciences (MoES) — sih.gov.in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49424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Ministry of Earth Sciences — moes.gov.in  |  India Meteorological Department — mausam.imd.gov.in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2514600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MoES Annual Report — capacity building, training and human-resource development programmes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2779776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National Education Policy 2020 — digital learning, competency-based education and skilling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527048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527048"/>
            <a:ext cx="54864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165506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F27C1E"/>
                </a:solidFill>
                <a:latin typeface="Calibri"/>
              </a:rPr>
              <a:t>Standards &amp; frameworks referenced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1984248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SCORM / xAPI (Experience API) — learning-record and progress interoperability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249424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IEEE 1484 LOM — learning object metadata for the course and document catalog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2514600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NIST SP 800-63B — digital identity and authentication guidance (password &amp; session policy)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2779776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OWASP ASVS and OWASP Mobile Top 10 — application security verification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NIST SP 800-38D — AES-256-GCM authenticated encryption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3310128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ISO/IEC 27001 Annex A — access control, logging and audit-trail controls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67328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767328"/>
            <a:ext cx="548640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389534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2E8B57"/>
                </a:solidFill>
                <a:latin typeface="Calibri"/>
              </a:rPr>
              <a:t>Technology documentation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4224528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Flutter &amp; Dart — docs.flutter.dev  |  Riverpod, GoRouter, Drift (drift.simonbinder.eu)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4489704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FastAPI — fastapi.tiangolo.com  |  SQLAlchemy, Alembic, Pydantic official 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4754880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SQLCipher — full-database encryption for SQLite (zetetic.net/sqlcipher)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020056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Khronos glTF 2.0 specification — 3D asset format for the Digital Twin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5285232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PostgreSQL 16 documentation  |  Docker Compose deployment reference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3767328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3767328"/>
            <a:ext cx="5486400" cy="508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89534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Domain &amp; prior art studied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792" y="4224528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Digital Twin concepts for marine and oceanographic instrumentation (ISO 23247 asset-twin framing)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2" y="4489704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Argo programme float documentation — argo.ucsd.edu — profiling float operations &amp; maintenance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4754880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Offline-first / local-first application patterns and CRDT vs. ledger-based sync literature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6792" y="5020056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Open-source LMS comparison (Moodle, Open edX) — informed the role model and gap analysis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Note: 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all cited standards and libraries are open or publicly available; the solution uses no proprietary or licence-restricted component.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